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7" r:id="rId1"/>
  </p:sldMasterIdLst>
  <p:notesMasterIdLst>
    <p:notesMasterId r:id="rId6"/>
  </p:notesMasterIdLst>
  <p:sldIdLst>
    <p:sldId id="367" r:id="rId2"/>
    <p:sldId id="370" r:id="rId3"/>
    <p:sldId id="369" r:id="rId4"/>
    <p:sldId id="365" r:id="rId5"/>
  </p:sldIdLst>
  <p:sldSz cx="9904413" cy="6858000"/>
  <p:notesSz cx="6745288" cy="98821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09" userDrawn="1">
          <p15:clr>
            <a:srgbClr val="A4A3A4"/>
          </p15:clr>
        </p15:guide>
        <p15:guide id="3" pos="398" userDrawn="1">
          <p15:clr>
            <a:srgbClr val="A4A3A4"/>
          </p15:clr>
        </p15:guide>
        <p15:guide id="4" pos="1396" userDrawn="1">
          <p15:clr>
            <a:srgbClr val="A4A3A4"/>
          </p15:clr>
        </p15:guide>
        <p15:guide id="5" pos="24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3" userDrawn="1">
          <p15:clr>
            <a:srgbClr val="A4A3A4"/>
          </p15:clr>
        </p15:guide>
        <p15:guide id="2" pos="21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howGuides="1">
      <p:cViewPr varScale="1">
        <p:scale>
          <a:sx n="91" d="100"/>
          <a:sy n="91" d="100"/>
        </p:scale>
        <p:origin x="108" y="1422"/>
      </p:cViewPr>
      <p:guideLst>
        <p:guide orient="horz" pos="2160"/>
        <p:guide orient="horz" pos="709"/>
        <p:guide pos="398"/>
        <p:guide pos="1396"/>
        <p:guide pos="24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2" d="100"/>
          <a:sy n="112" d="100"/>
        </p:scale>
        <p:origin x="5184" y="84"/>
      </p:cViewPr>
      <p:guideLst>
        <p:guide orient="horz" pos="3113"/>
        <p:guide pos="21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23693" cy="494110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20020" y="1"/>
            <a:ext cx="2923693" cy="494110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971C181F-3A2D-4F3A-81AF-DA302B3CAE85}" type="datetimeFigureOut">
              <a:rPr lang="ko-KR" altLang="en-US" smtClean="0"/>
              <a:pPr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6913" y="741363"/>
            <a:ext cx="5351462" cy="370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6" y="4694835"/>
            <a:ext cx="5396860" cy="444698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86490"/>
            <a:ext cx="2923693" cy="494110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20020" y="9386490"/>
            <a:ext cx="2923693" cy="494110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AEC4181F-D909-4E83-882B-DA1F5526BC5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72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 noChangeArrowheads="1"/>
          </p:cNvSpPr>
          <p:nvPr userDrawn="1"/>
        </p:nvSpPr>
        <p:spPr bwMode="auto">
          <a:xfrm>
            <a:off x="360307" y="360363"/>
            <a:ext cx="719022" cy="360362"/>
          </a:xfrm>
          <a:prstGeom prst="rect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ko-KR" altLang="en-US" sz="1000" b="1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사내한</a:t>
            </a:r>
          </a:p>
        </p:txBody>
      </p:sp>
      <p:cxnSp>
        <p:nvCxnSpPr>
          <p:cNvPr id="5" name="직선 연결선 4"/>
          <p:cNvCxnSpPr>
            <a:cxnSpLocks noChangeShapeType="1"/>
          </p:cNvCxnSpPr>
          <p:nvPr userDrawn="1"/>
        </p:nvCxnSpPr>
        <p:spPr bwMode="auto">
          <a:xfrm>
            <a:off x="1891998" y="1989138"/>
            <a:ext cx="612041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직선 연결선 5"/>
          <p:cNvCxnSpPr>
            <a:cxnSpLocks noChangeShapeType="1"/>
          </p:cNvCxnSpPr>
          <p:nvPr userDrawn="1"/>
        </p:nvCxnSpPr>
        <p:spPr bwMode="auto">
          <a:xfrm>
            <a:off x="2433248" y="2009775"/>
            <a:ext cx="5037918" cy="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0" t="13085" r="28609" b="13830"/>
          <a:stretch/>
        </p:blipFill>
        <p:spPr>
          <a:xfrm>
            <a:off x="2157602" y="3251009"/>
            <a:ext cx="2002516" cy="239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7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07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6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68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/>
          <p:cNvSpPr/>
          <p:nvPr/>
        </p:nvSpPr>
        <p:spPr>
          <a:xfrm>
            <a:off x="5584129" y="2105528"/>
            <a:ext cx="863830" cy="242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9" name="Line 2"/>
          <p:cNvSpPr>
            <a:spLocks noChangeShapeType="1"/>
          </p:cNvSpPr>
          <p:nvPr/>
        </p:nvSpPr>
        <p:spPr bwMode="auto">
          <a:xfrm>
            <a:off x="93649" y="542925"/>
            <a:ext cx="9718705" cy="0"/>
          </a:xfrm>
          <a:prstGeom prst="line">
            <a:avLst/>
          </a:prstGeom>
          <a:noFill/>
          <a:ln w="952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63" name="Line 3"/>
          <p:cNvSpPr>
            <a:spLocks noChangeShapeType="1"/>
          </p:cNvSpPr>
          <p:nvPr/>
        </p:nvSpPr>
        <p:spPr bwMode="auto">
          <a:xfrm>
            <a:off x="93648" y="6401560"/>
            <a:ext cx="9717118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64" name="직사각형 11"/>
          <p:cNvSpPr>
            <a:spLocks noChangeArrowheads="1"/>
          </p:cNvSpPr>
          <p:nvPr/>
        </p:nvSpPr>
        <p:spPr bwMode="auto">
          <a:xfrm>
            <a:off x="4591902" y="82553"/>
            <a:ext cx="720610" cy="360363"/>
          </a:xfrm>
          <a:prstGeom prst="rect">
            <a:avLst/>
          </a:prstGeom>
          <a:noFill/>
          <a:ln w="12700" algn="ctr">
            <a:solidFill>
              <a:srgbClr val="FF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ko-KR" altLang="en-US" sz="1000" smtClean="0">
                <a:solidFill>
                  <a:srgbClr val="FF9393"/>
                </a:solidFill>
                <a:latin typeface="Arial" charset="0"/>
                <a:ea typeface="돋움" pitchFamily="50" charset="-127"/>
                <a:cs typeface="Arial" charset="0"/>
              </a:rPr>
              <a:t>사내한</a:t>
            </a:r>
            <a:endParaRPr kumimoji="1" lang="en-US" altLang="ko-KR" sz="1000" smtClean="0">
              <a:solidFill>
                <a:srgbClr val="FF9393"/>
              </a:solidFill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69" name="TextBox 14"/>
          <p:cNvSpPr txBox="1">
            <a:spLocks noChangeArrowheads="1"/>
          </p:cNvSpPr>
          <p:nvPr/>
        </p:nvSpPr>
        <p:spPr bwMode="auto">
          <a:xfrm>
            <a:off x="144440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r>
              <a:rPr lang="ko-KR" altLang="en-US" sz="1800" smtClean="0">
                <a:solidFill>
                  <a:prstClr val="black"/>
                </a:solidFill>
              </a:rPr>
              <a:t>시스템 전체 구성도</a:t>
            </a:r>
            <a:endParaRPr lang="ko-KR" altLang="en-US" sz="1800" dirty="0" smtClean="0">
              <a:solidFill>
                <a:prstClr val="black"/>
              </a:solidFill>
            </a:endParaRP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6845791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r"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174503" y="2945586"/>
            <a:ext cx="2785815" cy="1939513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3263492" y="3079435"/>
            <a:ext cx="755820" cy="1709798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Agent</a:t>
            </a:r>
            <a:br>
              <a:rPr lang="en-US" altLang="ko-KR" sz="1100" dirty="0" smtClean="0">
                <a:solidFill>
                  <a:schemeClr val="tx1"/>
                </a:solidFill>
              </a:rPr>
            </a:br>
            <a:r>
              <a:rPr lang="en-US" altLang="ko-KR" sz="1100" dirty="0" smtClean="0">
                <a:solidFill>
                  <a:schemeClr val="tx1"/>
                </a:solidFill>
              </a:rPr>
              <a:t>Admin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304134" y="3219010"/>
            <a:ext cx="878817" cy="388188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생성 </a:t>
            </a:r>
            <a:r>
              <a:rPr lang="en-US" altLang="ko-KR" sz="800" dirty="0" smtClean="0">
                <a:solidFill>
                  <a:schemeClr val="tx1"/>
                </a:solidFill>
              </a:rPr>
              <a:t>Rule</a:t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baseline="0" dirty="0" smtClean="0">
                <a:solidFill>
                  <a:schemeClr val="tx1"/>
                </a:solidFill>
              </a:rPr>
              <a:t>관리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800290" y="2713517"/>
            <a:ext cx="792088" cy="144016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모서리가 둥근 직사각형 74"/>
          <p:cNvSpPr/>
          <p:nvPr/>
        </p:nvSpPr>
        <p:spPr>
          <a:xfrm>
            <a:off x="938698" y="2824369"/>
            <a:ext cx="792088" cy="144016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1096839" y="2972404"/>
            <a:ext cx="792088" cy="144016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>
            <a:off x="1190347" y="4040589"/>
            <a:ext cx="615121" cy="25411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agent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10993" y="2371660"/>
            <a:ext cx="1710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 smtClean="0"/>
              <a:t>Linux_(android)_MAX1000EA</a:t>
            </a:r>
            <a:br>
              <a:rPr lang="en-US" altLang="ko-KR" sz="900" dirty="0" smtClean="0"/>
            </a:br>
            <a:r>
              <a:rPr lang="en-US" altLang="ko-KR" sz="600" dirty="0" err="1" smtClean="0"/>
              <a:t>React+APK</a:t>
            </a:r>
            <a:r>
              <a:rPr lang="en-US" altLang="ko-KR" sz="600" dirty="0" smtClean="0"/>
              <a:t>(</a:t>
            </a:r>
            <a:r>
              <a:rPr lang="en-US" altLang="ko-KR" sz="600" dirty="0" err="1" smtClean="0"/>
              <a:t>Base+update</a:t>
            </a:r>
            <a:r>
              <a:rPr lang="en-US" altLang="ko-KR" sz="600" dirty="0" smtClean="0"/>
              <a:t>)</a:t>
            </a:r>
            <a:endParaRPr lang="ko-KR" altLang="en-US" sz="600" dirty="0" smtClean="0"/>
          </a:p>
        </p:txBody>
      </p:sp>
      <p:sp>
        <p:nvSpPr>
          <p:cNvPr id="87" name="직사각형 86"/>
          <p:cNvSpPr/>
          <p:nvPr/>
        </p:nvSpPr>
        <p:spPr>
          <a:xfrm>
            <a:off x="1828900" y="4856579"/>
            <a:ext cx="819050" cy="36243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</a:rPr>
              <a:t>zenspark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90" name="꺾인 연결선 89"/>
          <p:cNvCxnSpPr>
            <a:stCxn id="87" idx="1"/>
            <a:endCxn id="163" idx="2"/>
          </p:cNvCxnSpPr>
          <p:nvPr/>
        </p:nvCxnSpPr>
        <p:spPr>
          <a:xfrm rot="10800000">
            <a:off x="1366356" y="4521332"/>
            <a:ext cx="462544" cy="516464"/>
          </a:xfrm>
          <a:prstGeom prst="bentConnector2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/>
          <p:cNvSpPr/>
          <p:nvPr/>
        </p:nvSpPr>
        <p:spPr>
          <a:xfrm>
            <a:off x="5456262" y="1109560"/>
            <a:ext cx="863830" cy="242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YouTube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456262" y="1381497"/>
            <a:ext cx="863830" cy="242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/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Music</a:t>
            </a:r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5512632" y="2032027"/>
            <a:ext cx="863830" cy="242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9" name="직사각형 98"/>
          <p:cNvSpPr/>
          <p:nvPr/>
        </p:nvSpPr>
        <p:spPr>
          <a:xfrm>
            <a:off x="5450320" y="1970718"/>
            <a:ext cx="863830" cy="242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e-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커머스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en-US" altLang="ko-KR" sz="800" dirty="0" smtClean="0">
                <a:solidFill>
                  <a:schemeClr val="tx1"/>
                </a:solidFill>
              </a:rPr>
              <a:t>(</a:t>
            </a:r>
            <a:r>
              <a:rPr lang="ko-KR" altLang="en-US" sz="800" dirty="0" smtClean="0">
                <a:solidFill>
                  <a:schemeClr val="tx1"/>
                </a:solidFill>
              </a:rPr>
              <a:t>영상제작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0" name="꺾인 연결선 99"/>
          <p:cNvCxnSpPr>
            <a:stCxn id="163" idx="0"/>
            <a:endCxn id="178" idx="1"/>
          </p:cNvCxnSpPr>
          <p:nvPr/>
        </p:nvCxnSpPr>
        <p:spPr>
          <a:xfrm rot="5400000" flipH="1" flipV="1">
            <a:off x="2891650" y="94932"/>
            <a:ext cx="738956" cy="3789544"/>
          </a:xfrm>
          <a:prstGeom prst="bentConnector2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모서리가 둥근 직사각형 106"/>
          <p:cNvSpPr/>
          <p:nvPr/>
        </p:nvSpPr>
        <p:spPr>
          <a:xfrm>
            <a:off x="8552606" y="1118607"/>
            <a:ext cx="620168" cy="1003271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8" name="직선 화살표 연결선 107"/>
          <p:cNvCxnSpPr>
            <a:stCxn id="178" idx="3"/>
            <a:endCxn id="107" idx="1"/>
          </p:cNvCxnSpPr>
          <p:nvPr/>
        </p:nvCxnSpPr>
        <p:spPr>
          <a:xfrm>
            <a:off x="6624962" y="1620226"/>
            <a:ext cx="1927644" cy="17"/>
          </a:xfrm>
          <a:prstGeom prst="straightConnector1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107" idx="3"/>
            <a:endCxn id="124" idx="4"/>
          </p:cNvCxnSpPr>
          <p:nvPr/>
        </p:nvCxnSpPr>
        <p:spPr>
          <a:xfrm flipH="1">
            <a:off x="6991792" y="1620243"/>
            <a:ext cx="2180982" cy="3438570"/>
          </a:xfrm>
          <a:prstGeom prst="bentConnector3">
            <a:avLst>
              <a:gd name="adj1" fmla="val -10482"/>
            </a:avLst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5318564" y="3496261"/>
            <a:ext cx="575797" cy="388188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수익 관리</a:t>
            </a:r>
            <a:r>
              <a:rPr lang="en-US" altLang="ko-KR" sz="700" dirty="0" smtClean="0">
                <a:solidFill>
                  <a:schemeClr val="tx1"/>
                </a:solidFill>
              </a:rPr>
              <a:t/>
            </a:r>
            <a:br>
              <a:rPr lang="en-US" altLang="ko-KR" sz="700" dirty="0" smtClean="0">
                <a:solidFill>
                  <a:schemeClr val="tx1"/>
                </a:solidFill>
              </a:rPr>
            </a:br>
            <a:r>
              <a:rPr lang="en-US" altLang="ko-KR" sz="700" dirty="0" smtClean="0">
                <a:solidFill>
                  <a:schemeClr val="tx1"/>
                </a:solidFill>
              </a:rPr>
              <a:t>(</a:t>
            </a:r>
            <a:r>
              <a:rPr lang="ko-KR" altLang="en-US" sz="700" dirty="0" smtClean="0">
                <a:solidFill>
                  <a:schemeClr val="tx1"/>
                </a:solidFill>
              </a:rPr>
              <a:t>분석</a:t>
            </a:r>
            <a:r>
              <a:rPr lang="en-US" altLang="ko-KR" sz="700" dirty="0" smtClean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13" name="꺾인 연결선 112"/>
          <p:cNvCxnSpPr>
            <a:stCxn id="112" idx="0"/>
            <a:endCxn id="73" idx="3"/>
          </p:cNvCxnSpPr>
          <p:nvPr/>
        </p:nvCxnSpPr>
        <p:spPr>
          <a:xfrm rot="16200000" flipV="1">
            <a:off x="5353129" y="3242927"/>
            <a:ext cx="83157" cy="423512"/>
          </a:xfrm>
          <a:prstGeom prst="bentConnector2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4304134" y="4276758"/>
            <a:ext cx="878817" cy="388188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영상 조회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분석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대상선정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15" name="직선 화살표 연결선 114"/>
          <p:cNvCxnSpPr>
            <a:stCxn id="73" idx="2"/>
            <a:endCxn id="114" idx="0"/>
          </p:cNvCxnSpPr>
          <p:nvPr/>
        </p:nvCxnSpPr>
        <p:spPr>
          <a:xfrm>
            <a:off x="4743543" y="3607198"/>
            <a:ext cx="0" cy="669560"/>
          </a:xfrm>
          <a:prstGeom prst="straightConnector1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>
            <a:stCxn id="73" idx="1"/>
          </p:cNvCxnSpPr>
          <p:nvPr/>
        </p:nvCxnSpPr>
        <p:spPr>
          <a:xfrm flipH="1" flipV="1">
            <a:off x="3998081" y="3407874"/>
            <a:ext cx="306053" cy="5230"/>
          </a:xfrm>
          <a:prstGeom prst="straightConnector1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72" idx="1"/>
          </p:cNvCxnSpPr>
          <p:nvPr/>
        </p:nvCxnSpPr>
        <p:spPr>
          <a:xfrm flipH="1">
            <a:off x="2106952" y="3934334"/>
            <a:ext cx="1156540" cy="53565"/>
          </a:xfrm>
          <a:prstGeom prst="straightConnector1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98757" y="2030219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/>
              <a:t>등록</a:t>
            </a:r>
            <a:r>
              <a:rPr lang="ko-KR" altLang="en-US" sz="900" baseline="0" dirty="0" smtClean="0"/>
              <a:t> </a:t>
            </a:r>
            <a:r>
              <a:rPr lang="en-US" altLang="ko-KR" sz="900" baseline="0" dirty="0" smtClean="0"/>
              <a:t>Rule</a:t>
            </a:r>
            <a:endParaRPr lang="ko-KR" altLang="en-US" sz="900" dirty="0"/>
          </a:p>
        </p:txBody>
      </p:sp>
      <p:sp>
        <p:nvSpPr>
          <p:cNvPr id="120" name="TextBox 119"/>
          <p:cNvSpPr txBox="1"/>
          <p:nvPr/>
        </p:nvSpPr>
        <p:spPr>
          <a:xfrm>
            <a:off x="4442060" y="3613480"/>
            <a:ext cx="5758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대상 선정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919649" y="3446873"/>
            <a:ext cx="11464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700" dirty="0" smtClean="0"/>
              <a:t>멀티미디어 콘텐츠 생성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(Vibe-coding)</a:t>
            </a:r>
            <a:endParaRPr lang="ko-KR" altLang="en-US" sz="700" dirty="0"/>
          </a:p>
        </p:txBody>
      </p:sp>
      <p:sp>
        <p:nvSpPr>
          <p:cNvPr id="122" name="직사각형 121"/>
          <p:cNvSpPr/>
          <p:nvPr/>
        </p:nvSpPr>
        <p:spPr>
          <a:xfrm>
            <a:off x="2851613" y="1413820"/>
            <a:ext cx="114646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700" dirty="0" smtClean="0"/>
              <a:t>멀티미디어 콘텐츠 등록</a:t>
            </a:r>
            <a:endParaRPr lang="ko-KR" altLang="en-US" sz="700" dirty="0"/>
          </a:p>
        </p:txBody>
      </p:sp>
      <p:sp>
        <p:nvSpPr>
          <p:cNvPr id="123" name="TextBox 122"/>
          <p:cNvSpPr txBox="1"/>
          <p:nvPr/>
        </p:nvSpPr>
        <p:spPr>
          <a:xfrm>
            <a:off x="2075946" y="4019401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1" hangingPunct="1"/>
            <a:r>
              <a:rPr lang="en-US" altLang="ko-KR" sz="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ko-KR" altLang="en-US" sz="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 제작 </a:t>
            </a:r>
            <a:r>
              <a:rPr lang="en-US" altLang="ko-KR" sz="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전송</a:t>
            </a:r>
            <a: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ko-KR" altLang="en-US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영상제작</a:t>
            </a:r>
            <a: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등록</a:t>
            </a:r>
            <a: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대상</a:t>
            </a:r>
            <a: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ko-KR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ko-KR" altLang="en-US" sz="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작업 스케줄</a:t>
            </a:r>
            <a:endParaRPr lang="en-US" altLang="ko-KR" sz="6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4" name="순서도: 자기 디스크 123"/>
          <p:cNvSpPr/>
          <p:nvPr/>
        </p:nvSpPr>
        <p:spPr>
          <a:xfrm>
            <a:off x="6302185" y="4819794"/>
            <a:ext cx="689607" cy="478038"/>
          </a:xfrm>
          <a:prstGeom prst="flowChartMagneticDisk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Gemini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5" name="순서도: 자기 디스크 124"/>
          <p:cNvSpPr/>
          <p:nvPr/>
        </p:nvSpPr>
        <p:spPr>
          <a:xfrm>
            <a:off x="6301863" y="5567454"/>
            <a:ext cx="689607" cy="525842"/>
          </a:xfrm>
          <a:prstGeom prst="flowChartMagneticDisk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Claude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6" name="꺾인 연결선 125"/>
          <p:cNvCxnSpPr>
            <a:stCxn id="114" idx="3"/>
            <a:endCxn id="124" idx="2"/>
          </p:cNvCxnSpPr>
          <p:nvPr/>
        </p:nvCxnSpPr>
        <p:spPr>
          <a:xfrm>
            <a:off x="5182951" y="4470852"/>
            <a:ext cx="1119234" cy="587961"/>
          </a:xfrm>
          <a:prstGeom prst="bentConnector3">
            <a:avLst>
              <a:gd name="adj1" fmla="val 50000"/>
            </a:avLst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5306707" y="5075683"/>
            <a:ext cx="9925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 생성 요청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(text)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8" name="직선 화살표 연결선 127"/>
          <p:cNvCxnSpPr>
            <a:stCxn id="124" idx="3"/>
            <a:endCxn id="125" idx="1"/>
          </p:cNvCxnSpPr>
          <p:nvPr/>
        </p:nvCxnSpPr>
        <p:spPr>
          <a:xfrm flipH="1">
            <a:off x="6646667" y="5297832"/>
            <a:ext cx="322" cy="269622"/>
          </a:xfrm>
          <a:prstGeom prst="straightConnector1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5109526" y="5846602"/>
            <a:ext cx="12570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영상제작 최적화 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</a:t>
            </a:r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전송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30" name="꺾인 연결선 129"/>
          <p:cNvCxnSpPr>
            <a:stCxn id="125" idx="2"/>
            <a:endCxn id="114" idx="2"/>
          </p:cNvCxnSpPr>
          <p:nvPr/>
        </p:nvCxnSpPr>
        <p:spPr>
          <a:xfrm rot="10800000">
            <a:off x="4743543" y="4664947"/>
            <a:ext cx="1558320" cy="1165429"/>
          </a:xfrm>
          <a:prstGeom prst="bentConnector2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/>
          <p:cNvCxnSpPr>
            <a:stCxn id="114" idx="1"/>
          </p:cNvCxnSpPr>
          <p:nvPr/>
        </p:nvCxnSpPr>
        <p:spPr>
          <a:xfrm flipH="1" flipV="1">
            <a:off x="4017965" y="4464891"/>
            <a:ext cx="286169" cy="5961"/>
          </a:xfrm>
          <a:prstGeom prst="straightConnector1">
            <a:avLst/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3955591" y="4629011"/>
            <a:ext cx="5437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생성요청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407760" y="3751750"/>
            <a:ext cx="5758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작업 지시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36" name="꺾인 연결선 135"/>
          <p:cNvCxnSpPr>
            <a:stCxn id="124" idx="1"/>
            <a:endCxn id="73" idx="0"/>
          </p:cNvCxnSpPr>
          <p:nvPr/>
        </p:nvCxnSpPr>
        <p:spPr>
          <a:xfrm rot="16200000" flipV="1">
            <a:off x="4894874" y="3067679"/>
            <a:ext cx="1600784" cy="1903446"/>
          </a:xfrm>
          <a:prstGeom prst="bentConnector3">
            <a:avLst>
              <a:gd name="adj1" fmla="val 109681"/>
            </a:avLst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129537" y="2771658"/>
            <a:ext cx="1034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인기 조회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노출 영상 </a:t>
            </a:r>
            <a:endParaRPr lang="en-US" altLang="ko-KR" sz="7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정보 추출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(text)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813153" y="4819794"/>
            <a:ext cx="87716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사용자</a:t>
            </a:r>
            <a:r>
              <a:rPr lang="ko-KR" altLang="en-US" sz="7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시청 </a:t>
            </a:r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로그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6509422" y="5308496"/>
            <a:ext cx="164981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영상제작 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en-US" altLang="ko-KR" sz="7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7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고도화</a:t>
            </a:r>
            <a:r>
              <a:rPr lang="en-US" altLang="ko-KR" sz="7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7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구체화</a:t>
            </a:r>
            <a:r>
              <a:rPr lang="en-US" altLang="ko-KR" sz="7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update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0" name="꺾인 연결선 139"/>
          <p:cNvCxnSpPr>
            <a:stCxn id="125" idx="3"/>
            <a:endCxn id="87" idx="2"/>
          </p:cNvCxnSpPr>
          <p:nvPr/>
        </p:nvCxnSpPr>
        <p:spPr>
          <a:xfrm rot="5400000" flipH="1">
            <a:off x="4005404" y="3452034"/>
            <a:ext cx="874283" cy="4408242"/>
          </a:xfrm>
          <a:prstGeom prst="bentConnector3">
            <a:avLst>
              <a:gd name="adj1" fmla="val -17202"/>
            </a:avLst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/>
          <p:cNvSpPr/>
          <p:nvPr/>
        </p:nvSpPr>
        <p:spPr>
          <a:xfrm>
            <a:off x="5450320" y="1671759"/>
            <a:ext cx="863830" cy="242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/>
            <a:r>
              <a:rPr lang="en-US" altLang="ko-KR" sz="1200" dirty="0" err="1" smtClean="0">
                <a:solidFill>
                  <a:schemeClr val="tx1"/>
                </a:solidFill>
              </a:rPr>
              <a:t>Tictoc</a:t>
            </a:r>
            <a:endParaRPr lang="ko-KR" altLang="en-US" sz="1200" kern="1200" dirty="0">
              <a:solidFill>
                <a:schemeClr val="tx1"/>
              </a:solidFill>
            </a:endParaRPr>
          </a:p>
        </p:txBody>
      </p:sp>
      <p:cxnSp>
        <p:nvCxnSpPr>
          <p:cNvPr id="32" name="꺾인 연결선 31"/>
          <p:cNvCxnSpPr>
            <a:stCxn id="155" idx="3"/>
            <a:endCxn id="150" idx="2"/>
          </p:cNvCxnSpPr>
          <p:nvPr/>
        </p:nvCxnSpPr>
        <p:spPr>
          <a:xfrm flipV="1">
            <a:off x="5913758" y="3645024"/>
            <a:ext cx="2964823" cy="581051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7464235" y="3755642"/>
            <a:ext cx="13612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1" hangingPunct="1"/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영상제작 요청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영상제작 제공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7465102" y="3897144"/>
            <a:ext cx="1385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defTabSz="914400" rtl="0" eaLnBrk="1" latinLnBrk="1" hangingPunct="1"/>
            <a:r>
              <a:rPr lang="ko-KR" altLang="en-US" sz="700" dirty="0" smtClean="0"/>
              <a:t>요청</a:t>
            </a:r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정보 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이미지</a:t>
            </a:r>
            <a:r>
              <a:rPr lang="en-US" altLang="ko-K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</a:t>
            </a:r>
            <a:r>
              <a:rPr lang="ko-KR" altLang="en-US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제작 </a:t>
            </a:r>
            <a:r>
              <a:rPr lang="en-US" altLang="ko-KR" sz="700" dirty="0" smtClean="0"/>
              <a:t>text</a:t>
            </a:r>
            <a:br>
              <a:rPr lang="en-US" altLang="ko-KR" sz="700" dirty="0" smtClean="0"/>
            </a:br>
            <a:r>
              <a:rPr lang="ko-KR" altLang="en-US" sz="700" dirty="0" smtClean="0"/>
              <a:t>제공 정보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쇼츠</a:t>
            </a:r>
            <a:r>
              <a:rPr lang="ko-KR" altLang="en-US" sz="700" dirty="0" smtClean="0"/>
              <a:t> 영상</a:t>
            </a:r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8568497" y="2641753"/>
            <a:ext cx="620168" cy="1003271"/>
          </a:xfrm>
          <a:prstGeom prst="round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/>
          <p:cNvSpPr/>
          <p:nvPr/>
        </p:nvSpPr>
        <p:spPr>
          <a:xfrm>
            <a:off x="8493297" y="2921768"/>
            <a:ext cx="819455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 smtClean="0"/>
              <a:t>User</a:t>
            </a:r>
            <a:br>
              <a:rPr lang="en-US" altLang="ko-KR" sz="1600" b="1" dirty="0" smtClean="0"/>
            </a:br>
            <a:r>
              <a:rPr lang="en-US" altLang="ko-KR" sz="700" b="1" dirty="0" smtClean="0"/>
              <a:t>(</a:t>
            </a:r>
            <a:r>
              <a:rPr lang="ko-KR" altLang="en-US" sz="700" b="1" dirty="0" smtClean="0"/>
              <a:t>영상제작 요청</a:t>
            </a:r>
            <a:r>
              <a:rPr lang="en-US" altLang="ko-KR" sz="700" b="1" dirty="0" smtClean="0"/>
              <a:t>)</a:t>
            </a:r>
            <a:endParaRPr lang="ko-KR" altLang="en-US" sz="700" b="1" dirty="0"/>
          </a:p>
        </p:txBody>
      </p:sp>
      <p:sp>
        <p:nvSpPr>
          <p:cNvPr id="155" name="직사각형 154"/>
          <p:cNvSpPr/>
          <p:nvPr/>
        </p:nvSpPr>
        <p:spPr>
          <a:xfrm>
            <a:off x="5337961" y="4031981"/>
            <a:ext cx="575797" cy="388188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smtClean="0">
                <a:solidFill>
                  <a:schemeClr val="tx1"/>
                </a:solidFill>
              </a:rPr>
              <a:t>WEB</a:t>
            </a:r>
            <a:br>
              <a:rPr lang="en-US" altLang="ko-KR" sz="700" dirty="0" smtClean="0">
                <a:solidFill>
                  <a:schemeClr val="tx1"/>
                </a:solidFill>
              </a:rPr>
            </a:br>
            <a:r>
              <a:rPr lang="en-US" altLang="ko-KR" sz="700" dirty="0" smtClean="0">
                <a:solidFill>
                  <a:schemeClr val="tx1"/>
                </a:solidFill>
              </a:rPr>
              <a:t>(+Google AD)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631825" y="2359182"/>
            <a:ext cx="1469062" cy="2162150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직사각형 177"/>
          <p:cNvSpPr/>
          <p:nvPr/>
        </p:nvSpPr>
        <p:spPr>
          <a:xfrm>
            <a:off x="5155900" y="808204"/>
            <a:ext cx="1469062" cy="1624044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TextBox 180"/>
          <p:cNvSpPr txBox="1"/>
          <p:nvPr/>
        </p:nvSpPr>
        <p:spPr>
          <a:xfrm>
            <a:off x="5522702" y="819826"/>
            <a:ext cx="8018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mtClean="0"/>
              <a:t>플랫폼 등록</a:t>
            </a:r>
            <a:endParaRPr lang="ko-KR" altLang="en-US" sz="600" dirty="0" smtClean="0"/>
          </a:p>
        </p:txBody>
      </p:sp>
      <p:sp>
        <p:nvSpPr>
          <p:cNvPr id="184" name="직사각형 183"/>
          <p:cNvSpPr/>
          <p:nvPr/>
        </p:nvSpPr>
        <p:spPr>
          <a:xfrm>
            <a:off x="8523098" y="1380971"/>
            <a:ext cx="665567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 smtClean="0"/>
              <a:t>User</a:t>
            </a:r>
            <a:br>
              <a:rPr lang="en-US" altLang="ko-KR" sz="1600" b="1" dirty="0" smtClean="0"/>
            </a:br>
            <a:r>
              <a:rPr lang="ko-KR" altLang="en-US" sz="700" b="1" dirty="0" smtClean="0"/>
              <a:t>일반 사용자</a:t>
            </a:r>
            <a:endParaRPr lang="ko-KR" altLang="en-US" sz="700" b="1" dirty="0"/>
          </a:p>
        </p:txBody>
      </p:sp>
      <p:sp>
        <p:nvSpPr>
          <p:cNvPr id="188" name="직사각형 187"/>
          <p:cNvSpPr/>
          <p:nvPr/>
        </p:nvSpPr>
        <p:spPr>
          <a:xfrm>
            <a:off x="3293386" y="3509109"/>
            <a:ext cx="675624" cy="66747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 smtClean="0">
                <a:solidFill>
                  <a:schemeClr val="tx1"/>
                </a:solidFill>
              </a:rPr>
              <a:t>스케쥴</a:t>
            </a:r>
            <a:r>
              <a:rPr lang="ko-KR" altLang="en-US" sz="700" dirty="0" smtClean="0">
                <a:solidFill>
                  <a:schemeClr val="tx1"/>
                </a:solidFill>
              </a:rPr>
              <a:t> 관리</a:t>
            </a:r>
            <a:r>
              <a:rPr lang="en-US" altLang="ko-KR" sz="700" dirty="0" smtClean="0">
                <a:solidFill>
                  <a:schemeClr val="tx1"/>
                </a:solidFill>
              </a:rPr>
              <a:t>(admin)</a:t>
            </a:r>
            <a:br>
              <a:rPr lang="en-US" altLang="ko-KR" sz="700" dirty="0" smtClean="0">
                <a:solidFill>
                  <a:schemeClr val="tx1"/>
                </a:solidFill>
              </a:rPr>
            </a:br>
            <a:r>
              <a:rPr lang="en-US" altLang="ko-KR" sz="700" dirty="0" smtClean="0">
                <a:solidFill>
                  <a:schemeClr val="tx1"/>
                </a:solidFill>
              </a:rPr>
              <a:t>Day/Hour</a:t>
            </a:r>
            <a:br>
              <a:rPr lang="en-US" altLang="ko-KR" sz="700" dirty="0" smtClean="0">
                <a:solidFill>
                  <a:schemeClr val="tx1"/>
                </a:solidFill>
              </a:rPr>
            </a:br>
            <a:r>
              <a:rPr lang="ko-KR" altLang="en-US" sz="700" dirty="0" smtClean="0">
                <a:solidFill>
                  <a:schemeClr val="tx1"/>
                </a:solidFill>
              </a:rPr>
              <a:t>영상정보 수집</a:t>
            </a:r>
            <a:r>
              <a:rPr lang="en-US" altLang="ko-KR" sz="700" dirty="0" smtClean="0">
                <a:solidFill>
                  <a:schemeClr val="tx1"/>
                </a:solidFill>
              </a:rPr>
              <a:t>/</a:t>
            </a:r>
            <a:r>
              <a:rPr lang="ko-KR" altLang="en-US" sz="700" dirty="0" err="1" smtClean="0">
                <a:solidFill>
                  <a:schemeClr val="tx1"/>
                </a:solidFill>
              </a:rPr>
              <a:t>영상생성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3302429" y="4239411"/>
            <a:ext cx="675624" cy="501109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 smtClean="0">
                <a:solidFill>
                  <a:schemeClr val="tx1"/>
                </a:solidFill>
              </a:rPr>
              <a:t>스케쥴</a:t>
            </a:r>
            <a:r>
              <a:rPr lang="ko-KR" altLang="en-US" sz="700" dirty="0" smtClean="0">
                <a:solidFill>
                  <a:schemeClr val="tx1"/>
                </a:solidFill>
              </a:rPr>
              <a:t> 관리</a:t>
            </a:r>
            <a:r>
              <a:rPr lang="en-US" altLang="ko-KR" sz="700" dirty="0" smtClean="0">
                <a:solidFill>
                  <a:schemeClr val="tx1"/>
                </a:solidFill>
              </a:rPr>
              <a:t>(agent)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92" name="꺾인 연결선 191"/>
          <p:cNvCxnSpPr>
            <a:stCxn id="178" idx="2"/>
            <a:endCxn id="72" idx="0"/>
          </p:cNvCxnSpPr>
          <p:nvPr/>
        </p:nvCxnSpPr>
        <p:spPr>
          <a:xfrm rot="5400000">
            <a:off x="4442324" y="1631327"/>
            <a:ext cx="647187" cy="2249029"/>
          </a:xfrm>
          <a:prstGeom prst="bentConnector3">
            <a:avLst>
              <a:gd name="adj1" fmla="val 50000"/>
            </a:avLst>
          </a:prstGeom>
          <a:ln w="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3571517" y="2608378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mtClean="0"/>
              <a:t>결과 보고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418944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93649" y="542925"/>
            <a:ext cx="9718705" cy="0"/>
          </a:xfrm>
          <a:prstGeom prst="line">
            <a:avLst/>
          </a:prstGeom>
          <a:noFill/>
          <a:ln w="952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93648" y="6401560"/>
            <a:ext cx="9717118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4" name="TextBox 14"/>
          <p:cNvSpPr txBox="1">
            <a:spLocks noChangeArrowheads="1"/>
          </p:cNvSpPr>
          <p:nvPr/>
        </p:nvSpPr>
        <p:spPr bwMode="auto">
          <a:xfrm>
            <a:off x="144440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800" dirty="0" smtClean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845791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r"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271686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r>
              <a:rPr lang="ko-KR" altLang="en-US" sz="1800" dirty="0" smtClean="0">
                <a:solidFill>
                  <a:prstClr val="black"/>
                </a:solidFill>
              </a:rPr>
              <a:t>시스템 구축의 목적</a:t>
            </a:r>
            <a:endParaRPr lang="ko-KR" altLang="en-US" sz="1800" dirty="0" smtClean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7701" y="692696"/>
            <a:ext cx="926901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1.</a:t>
            </a:r>
            <a:r>
              <a:rPr lang="ko-KR" altLang="en-US" sz="1400" dirty="0" smtClean="0"/>
              <a:t>목적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1) </a:t>
            </a:r>
            <a:r>
              <a:rPr lang="ko-KR" altLang="en-US" sz="1400" dirty="0" smtClean="0"/>
              <a:t>현재 </a:t>
            </a:r>
            <a:r>
              <a:rPr lang="en-US" altLang="ko-KR" sz="1400" dirty="0" smtClean="0"/>
              <a:t>hot</a:t>
            </a:r>
            <a:r>
              <a:rPr lang="ko-KR" altLang="en-US" sz="1400" dirty="0" smtClean="0"/>
              <a:t>이슈가 되고 있는 영상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쇼츠영상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유튜브 음악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사용자 요청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을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2) AI</a:t>
            </a:r>
            <a:r>
              <a:rPr lang="ko-KR" altLang="en-US" sz="1400" dirty="0" smtClean="0"/>
              <a:t>가 자동으로 가장 인기있는 영상을 조회하고</a:t>
            </a:r>
            <a:endParaRPr lang="en-US" altLang="ko-KR" sz="1400" dirty="0" smtClean="0"/>
          </a:p>
          <a:p>
            <a:r>
              <a:rPr lang="en-US" altLang="ko-KR" sz="1400" dirty="0" smtClean="0"/>
              <a:t>3) </a:t>
            </a:r>
            <a:r>
              <a:rPr lang="ko-KR" altLang="en-US" sz="1400" dirty="0" err="1" smtClean="0"/>
              <a:t>인기영상의</a:t>
            </a:r>
            <a:r>
              <a:rPr lang="ko-KR" altLang="en-US" sz="1400" dirty="0" smtClean="0"/>
              <a:t> 세부내용을 </a:t>
            </a:r>
            <a:r>
              <a:rPr lang="en-US" altLang="ko-KR" sz="1400" dirty="0" smtClean="0"/>
              <a:t>text</a:t>
            </a:r>
            <a:r>
              <a:rPr lang="ko-KR" altLang="en-US" sz="1400" dirty="0" smtClean="0"/>
              <a:t>로 분석하여</a:t>
            </a:r>
            <a:endParaRPr lang="en-US" altLang="ko-KR" sz="1400" dirty="0" smtClean="0"/>
          </a:p>
          <a:p>
            <a:r>
              <a:rPr lang="en-US" altLang="ko-KR" sz="1400" dirty="0" smtClean="0"/>
              <a:t>4) 3)</a:t>
            </a:r>
            <a:r>
              <a:rPr lang="ko-KR" altLang="en-US" sz="1400" dirty="0" smtClean="0"/>
              <a:t>번을 새로운 영상 제작의 기초로 활용하여</a:t>
            </a:r>
            <a:endParaRPr lang="en-US" altLang="ko-KR" sz="1400" dirty="0" smtClean="0"/>
          </a:p>
          <a:p>
            <a:r>
              <a:rPr lang="en-US" altLang="ko-KR" sz="1400" dirty="0" smtClean="0"/>
              <a:t>5) </a:t>
            </a:r>
            <a:r>
              <a:rPr lang="ko-KR" altLang="en-US" sz="1400" dirty="0" smtClean="0"/>
              <a:t>새로운 영상 제작을 위해 구체적이고 업그레이드된 </a:t>
            </a:r>
            <a:r>
              <a:rPr lang="en-US" altLang="ko-KR" sz="1400" dirty="0" smtClean="0"/>
              <a:t>text</a:t>
            </a:r>
            <a:r>
              <a:rPr lang="ko-KR" altLang="en-US" sz="1400" dirty="0" smtClean="0"/>
              <a:t>를 보완해서</a:t>
            </a:r>
            <a:endParaRPr lang="en-US" altLang="ko-KR" sz="1400" dirty="0" smtClean="0"/>
          </a:p>
          <a:p>
            <a:r>
              <a:rPr lang="en-US" altLang="ko-KR" sz="1400" dirty="0" smtClean="0"/>
              <a:t>6) </a:t>
            </a:r>
            <a:r>
              <a:rPr lang="ko-KR" altLang="en-US" sz="1400" dirty="0" smtClean="0"/>
              <a:t>새로운 영상을 제작 요청 한 후에</a:t>
            </a:r>
            <a:endParaRPr lang="en-US" altLang="ko-KR" sz="1400" dirty="0" smtClean="0"/>
          </a:p>
          <a:p>
            <a:r>
              <a:rPr lang="en-US" altLang="ko-KR" sz="1400" dirty="0" smtClean="0"/>
              <a:t>7) Agent admin </a:t>
            </a:r>
            <a:r>
              <a:rPr lang="ko-KR" altLang="en-US" sz="1400" dirty="0" smtClean="0"/>
              <a:t>이 </a:t>
            </a:r>
            <a:r>
              <a:rPr lang="en-US" altLang="ko-KR" sz="1400" dirty="0" smtClean="0"/>
              <a:t>agent(</a:t>
            </a:r>
            <a:r>
              <a:rPr lang="ko-KR" altLang="en-US" sz="1400" dirty="0" smtClean="0"/>
              <a:t>안드로이드 휴대폰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으로 영상 작업을 전송하면</a:t>
            </a:r>
            <a:endParaRPr lang="en-US" altLang="ko-KR" sz="1400" dirty="0" smtClean="0"/>
          </a:p>
          <a:p>
            <a:r>
              <a:rPr lang="en-US" altLang="ko-KR" sz="1400" dirty="0" smtClean="0"/>
              <a:t>8) Agent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admin</a:t>
            </a:r>
            <a:r>
              <a:rPr lang="ko-KR" altLang="en-US" sz="1400" dirty="0" smtClean="0"/>
              <a:t>이 지시한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작업 스케줄과 제작 </a:t>
            </a:r>
            <a:r>
              <a:rPr lang="en-US" altLang="ko-KR" sz="1400" dirty="0" smtClean="0"/>
              <a:t>text</a:t>
            </a:r>
            <a:r>
              <a:rPr lang="ko-KR" altLang="en-US" sz="1400" dirty="0" smtClean="0"/>
              <a:t>를 기준으로 영상 제작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검증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영상 등록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지정된 곳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을 진행하고</a:t>
            </a:r>
            <a:endParaRPr lang="en-US" altLang="ko-KR" sz="1400" dirty="0" smtClean="0"/>
          </a:p>
          <a:p>
            <a:r>
              <a:rPr lang="en-US" altLang="ko-KR" sz="1400" dirty="0" smtClean="0"/>
              <a:t>9) agent</a:t>
            </a:r>
            <a:r>
              <a:rPr lang="ko-KR" altLang="en-US" sz="1400" dirty="0" smtClean="0"/>
              <a:t>는 수행결과를 </a:t>
            </a:r>
            <a:r>
              <a:rPr lang="en-US" altLang="ko-KR" sz="1400" dirty="0" smtClean="0"/>
              <a:t>admin</a:t>
            </a:r>
            <a:r>
              <a:rPr lang="ko-KR" altLang="en-US" sz="1400" dirty="0" smtClean="0"/>
              <a:t>에게 보고하고 다른 </a:t>
            </a:r>
            <a:r>
              <a:rPr lang="ko-KR" altLang="en-US" sz="1400" dirty="0" err="1" smtClean="0"/>
              <a:t>스케쥴과</a:t>
            </a:r>
            <a:r>
              <a:rPr lang="ko-KR" altLang="en-US" sz="1400" dirty="0" smtClean="0"/>
              <a:t> 작업 지시에 따라 지속적인 </a:t>
            </a:r>
            <a:r>
              <a:rPr lang="en-US" altLang="ko-KR" sz="1400" dirty="0" smtClean="0"/>
              <a:t>agent</a:t>
            </a:r>
            <a:r>
              <a:rPr lang="ko-KR" altLang="en-US" sz="1400" dirty="0" smtClean="0"/>
              <a:t>역할을 수행</a:t>
            </a:r>
            <a:endParaRPr lang="ko-KR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43694" y="3356992"/>
            <a:ext cx="90624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2. </a:t>
            </a:r>
            <a:r>
              <a:rPr lang="ko-KR" altLang="en-US" sz="1400" dirty="0" smtClean="0"/>
              <a:t>개발 기본 요건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1) Agent admin</a:t>
            </a:r>
            <a:r>
              <a:rPr lang="ko-KR" altLang="en-US" sz="1400" dirty="0" smtClean="0"/>
              <a:t>은 전체 수행중인 </a:t>
            </a:r>
            <a:r>
              <a:rPr lang="en-US" altLang="ko-KR" sz="1400" dirty="0" smtClean="0"/>
              <a:t>agent</a:t>
            </a:r>
            <a:r>
              <a:rPr lang="ko-KR" altLang="en-US" sz="1400" dirty="0" smtClean="0"/>
              <a:t>를 </a:t>
            </a:r>
            <a:r>
              <a:rPr lang="ko-KR" altLang="en-US" sz="1400" dirty="0" err="1" smtClean="0"/>
              <a:t>실시간으로통제</a:t>
            </a:r>
            <a:r>
              <a:rPr lang="ko-KR" altLang="en-US" sz="1400" dirty="0" smtClean="0"/>
              <a:t> 가능해야 된다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- </a:t>
            </a:r>
            <a:r>
              <a:rPr lang="ko-KR" altLang="en-US" sz="1400" dirty="0" err="1" smtClean="0"/>
              <a:t>작업스케쥴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실행시간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작업지시</a:t>
            </a:r>
            <a:r>
              <a:rPr lang="en-US" altLang="ko-KR" sz="1400" dirty="0" smtClean="0"/>
              <a:t>:</a:t>
            </a:r>
            <a:r>
              <a:rPr lang="ko-KR" altLang="en-US" sz="1400" dirty="0" err="1" smtClean="0"/>
              <a:t>작업유형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횟수</a:t>
            </a:r>
            <a:r>
              <a:rPr lang="en-US" altLang="ko-KR" sz="1400" dirty="0" smtClean="0"/>
              <a:t>,agent</a:t>
            </a:r>
            <a:r>
              <a:rPr lang="ko-KR" altLang="en-US" sz="1400" dirty="0" smtClean="0"/>
              <a:t>등록관리</a:t>
            </a:r>
            <a:r>
              <a:rPr lang="en-US" altLang="ko-KR" sz="1400" dirty="0" smtClean="0"/>
              <a:t>,on/</a:t>
            </a:r>
            <a:r>
              <a:rPr lang="en-US" altLang="ko-KR" sz="1400" dirty="0" err="1" smtClean="0"/>
              <a:t>off,MAX</a:t>
            </a:r>
            <a:r>
              <a:rPr lang="en-US" altLang="ko-KR" sz="1400" dirty="0" smtClean="0"/>
              <a:t> 1000EA </a:t>
            </a:r>
            <a:r>
              <a:rPr lang="ko-KR" altLang="en-US" sz="1400" dirty="0" smtClean="0"/>
              <a:t>까지의 관리 </a:t>
            </a:r>
            <a:r>
              <a:rPr lang="en-US" altLang="ko-KR" sz="1400" dirty="0" err="1" smtClean="0"/>
              <a:t>capa</a:t>
            </a:r>
            <a:r>
              <a:rPr lang="ko-KR" altLang="en-US" sz="1400" dirty="0" smtClean="0"/>
              <a:t>기준 설계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2. </a:t>
            </a:r>
            <a:r>
              <a:rPr lang="ko-KR" altLang="en-US" sz="1400" dirty="0" smtClean="0"/>
              <a:t>개발 요건은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1) front(</a:t>
            </a:r>
            <a:r>
              <a:rPr lang="ko-KR" altLang="en-US" sz="1400" dirty="0" smtClean="0"/>
              <a:t>안드로이드 폰에서 기본적으로 활용되고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- </a:t>
            </a:r>
            <a:r>
              <a:rPr lang="ko-KR" altLang="en-US" sz="1400" dirty="0" smtClean="0"/>
              <a:t>설치 </a:t>
            </a:r>
            <a:r>
              <a:rPr lang="en-US" altLang="ko-KR" sz="1400" dirty="0" smtClean="0"/>
              <a:t>– </a:t>
            </a:r>
            <a:r>
              <a:rPr lang="ko-KR" altLang="en-US" sz="1400" dirty="0" smtClean="0"/>
              <a:t>기능 </a:t>
            </a:r>
            <a:r>
              <a:rPr lang="en-US" altLang="ko-KR" sz="1400" dirty="0" smtClean="0"/>
              <a:t>upgrade </a:t>
            </a:r>
            <a:r>
              <a:rPr lang="ko-KR" altLang="en-US" sz="1400" dirty="0" smtClean="0"/>
              <a:t>배포</a:t>
            </a:r>
            <a:r>
              <a:rPr lang="en-US" altLang="ko-KR" sz="1400" dirty="0" smtClean="0"/>
              <a:t> – </a:t>
            </a:r>
            <a:r>
              <a:rPr lang="ko-KR" altLang="en-US" sz="1400" dirty="0" smtClean="0"/>
              <a:t>작업 스케줄 인식 및 작업이 진행되어야 한다</a:t>
            </a:r>
            <a:r>
              <a:rPr lang="en-US" altLang="ko-KR" sz="1400" dirty="0" smtClean="0"/>
              <a:t>(web base)</a:t>
            </a:r>
            <a:br>
              <a:rPr lang="en-US" altLang="ko-KR" sz="1400" dirty="0" smtClean="0"/>
            </a:br>
            <a:r>
              <a:rPr lang="en-US" altLang="ko-KR" sz="1400" dirty="0" smtClean="0"/>
              <a:t> 2) </a:t>
            </a:r>
            <a:r>
              <a:rPr lang="ko-KR" altLang="en-US" sz="1400" dirty="0" smtClean="0"/>
              <a:t>영상 생성은 안드로이드 폰 자체에서 생성되어야 하므로 휴대폰 자원에 필요한 경우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    APK</a:t>
            </a:r>
            <a:r>
              <a:rPr lang="ko-KR" altLang="en-US" sz="1400" dirty="0" smtClean="0"/>
              <a:t>를 기본적으로 사용하여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설치가 가능하도록 해야한다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3) </a:t>
            </a:r>
            <a:r>
              <a:rPr lang="ko-KR" altLang="en-US" sz="1400" dirty="0" smtClean="0"/>
              <a:t>이외 변경사항은 </a:t>
            </a:r>
            <a:r>
              <a:rPr lang="en-US" altLang="ko-KR" sz="1400" dirty="0" smtClean="0"/>
              <a:t>agent</a:t>
            </a:r>
            <a:r>
              <a:rPr lang="ko-KR" altLang="en-US" sz="1400" dirty="0" smtClean="0"/>
              <a:t>에서 일괄 통제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업그레이드가 되도록 기본 </a:t>
            </a:r>
            <a:r>
              <a:rPr lang="ko-KR" altLang="en-US" sz="1400" dirty="0" err="1" smtClean="0"/>
              <a:t>아키텍쳐를</a:t>
            </a:r>
            <a:r>
              <a:rPr lang="ko-KR" altLang="en-US" sz="1400" dirty="0" smtClean="0"/>
              <a:t> 설계 한다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2932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Line 2"/>
          <p:cNvSpPr>
            <a:spLocks noChangeShapeType="1"/>
          </p:cNvSpPr>
          <p:nvPr/>
        </p:nvSpPr>
        <p:spPr bwMode="auto">
          <a:xfrm>
            <a:off x="93649" y="542925"/>
            <a:ext cx="9718705" cy="0"/>
          </a:xfrm>
          <a:prstGeom prst="line">
            <a:avLst/>
          </a:prstGeom>
          <a:noFill/>
          <a:ln w="952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95" name="Line 3"/>
          <p:cNvSpPr>
            <a:spLocks noChangeShapeType="1"/>
          </p:cNvSpPr>
          <p:nvPr/>
        </p:nvSpPr>
        <p:spPr bwMode="auto">
          <a:xfrm>
            <a:off x="93648" y="6401560"/>
            <a:ext cx="9717118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3" name="TextBox 14"/>
          <p:cNvSpPr txBox="1">
            <a:spLocks noChangeArrowheads="1"/>
          </p:cNvSpPr>
          <p:nvPr/>
        </p:nvSpPr>
        <p:spPr bwMode="auto">
          <a:xfrm>
            <a:off x="144440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800" dirty="0" smtClean="0">
              <a:solidFill>
                <a:prstClr val="black"/>
              </a:solidFill>
            </a:endParaRPr>
          </a:p>
        </p:txBody>
      </p:sp>
      <p:sp>
        <p:nvSpPr>
          <p:cNvPr id="115" name="TextBox 114"/>
          <p:cNvSpPr txBox="1">
            <a:spLocks noChangeArrowheads="1"/>
          </p:cNvSpPr>
          <p:nvPr/>
        </p:nvSpPr>
        <p:spPr bwMode="auto">
          <a:xfrm>
            <a:off x="6845791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r"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186" name="TextBox 14"/>
          <p:cNvSpPr txBox="1">
            <a:spLocks noChangeArrowheads="1"/>
          </p:cNvSpPr>
          <p:nvPr/>
        </p:nvSpPr>
        <p:spPr bwMode="auto">
          <a:xfrm>
            <a:off x="271686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r>
              <a:rPr lang="en-US" altLang="ko-KR" sz="1800" dirty="0" smtClean="0">
                <a:solidFill>
                  <a:prstClr val="black"/>
                </a:solidFill>
              </a:rPr>
              <a:t>Agent</a:t>
            </a:r>
            <a:r>
              <a:rPr lang="ko-KR" altLang="en-US" sz="1800" dirty="0" smtClean="0">
                <a:solidFill>
                  <a:prstClr val="black"/>
                </a:solidFill>
              </a:rPr>
              <a:t>의 역할</a:t>
            </a:r>
            <a:endParaRPr lang="ko-KR" altLang="en-US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95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Line 2"/>
          <p:cNvSpPr>
            <a:spLocks noChangeShapeType="1"/>
          </p:cNvSpPr>
          <p:nvPr/>
        </p:nvSpPr>
        <p:spPr bwMode="auto">
          <a:xfrm>
            <a:off x="93649" y="542925"/>
            <a:ext cx="9718705" cy="0"/>
          </a:xfrm>
          <a:prstGeom prst="line">
            <a:avLst/>
          </a:prstGeom>
          <a:noFill/>
          <a:ln w="9525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43" name="Line 3"/>
          <p:cNvSpPr>
            <a:spLocks noChangeShapeType="1"/>
          </p:cNvSpPr>
          <p:nvPr/>
        </p:nvSpPr>
        <p:spPr bwMode="auto">
          <a:xfrm>
            <a:off x="93648" y="6401560"/>
            <a:ext cx="9717118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ko-KR" altLang="en-US" sz="1000" smtClean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44" name="TextBox 14"/>
          <p:cNvSpPr txBox="1">
            <a:spLocks noChangeArrowheads="1"/>
          </p:cNvSpPr>
          <p:nvPr/>
        </p:nvSpPr>
        <p:spPr bwMode="auto">
          <a:xfrm>
            <a:off x="144440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800" dirty="0" smtClean="0">
              <a:solidFill>
                <a:prstClr val="black"/>
              </a:solidFill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6845791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r"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lang="ko-KR" alt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46" name="TextBox 14"/>
          <p:cNvSpPr txBox="1">
            <a:spLocks noChangeArrowheads="1"/>
          </p:cNvSpPr>
          <p:nvPr/>
        </p:nvSpPr>
        <p:spPr bwMode="auto">
          <a:xfrm>
            <a:off x="271686" y="2"/>
            <a:ext cx="3007830" cy="549275"/>
          </a:xfrm>
          <a:prstGeom prst="rect">
            <a:avLst/>
          </a:prstGeom>
          <a:noFill/>
          <a:ln>
            <a:noFill/>
          </a:ln>
          <a:extLst/>
        </p:spPr>
        <p:txBody>
          <a:bodyPr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fontAlgn="base" latinLnBrk="0" hangingPunct="1"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r>
              <a:rPr lang="en-US" altLang="ko-KR" sz="1800" dirty="0" smtClean="0">
                <a:solidFill>
                  <a:prstClr val="black"/>
                </a:solidFill>
              </a:rPr>
              <a:t>Agent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r>
              <a:rPr lang="en-US" altLang="ko-KR" sz="1800" dirty="0" smtClean="0">
                <a:solidFill>
                  <a:prstClr val="black"/>
                </a:solidFill>
              </a:rPr>
              <a:t>admin</a:t>
            </a:r>
            <a:r>
              <a:rPr lang="ko-KR" altLang="en-US" sz="1800" dirty="0" smtClean="0">
                <a:solidFill>
                  <a:prstClr val="black"/>
                </a:solidFill>
              </a:rPr>
              <a:t>의 역할</a:t>
            </a:r>
            <a:endParaRPr lang="ko-KR" altLang="en-US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35413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29997</TotalTime>
  <Words>417</Words>
  <Application>Microsoft Office PowerPoint</Application>
  <PresentationFormat>사용자 지정</PresentationFormat>
  <Paragraphs>49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돋움</vt:lpstr>
      <vt:lpstr>맑은 고딕</vt:lpstr>
      <vt:lpstr>Arial</vt:lpstr>
      <vt:lpstr>Wingdings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장광수</dc:creator>
  <cp:lastModifiedBy>SONG JIN SOO</cp:lastModifiedBy>
  <cp:revision>975</cp:revision>
  <cp:lastPrinted>2020-05-09T06:05:42Z</cp:lastPrinted>
  <dcterms:created xsi:type="dcterms:W3CDTF">2012-03-16T06:38:00Z</dcterms:created>
  <dcterms:modified xsi:type="dcterms:W3CDTF">2026-02-26T03:28:35Z</dcterms:modified>
</cp:coreProperties>
</file>